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3" autoAdjust="0"/>
    <p:restoredTop sz="94660"/>
  </p:normalViewPr>
  <p:slideViewPr>
    <p:cSldViewPr>
      <p:cViewPr>
        <p:scale>
          <a:sx n="100" d="100"/>
          <a:sy n="100" d="100"/>
        </p:scale>
        <p:origin x="180" y="10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85F-2776-4492-9EE8-EC0AEFEFC6E7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F2FA-3015-46D2-A9E6-751F39E5F8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85F-2776-4492-9EE8-EC0AEFEFC6E7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F2FA-3015-46D2-A9E6-751F39E5F8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85F-2776-4492-9EE8-EC0AEFEFC6E7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F2FA-3015-46D2-A9E6-751F39E5F8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85F-2776-4492-9EE8-EC0AEFEFC6E7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F2FA-3015-46D2-A9E6-751F39E5F8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85F-2776-4492-9EE8-EC0AEFEFC6E7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F2FA-3015-46D2-A9E6-751F39E5F8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85F-2776-4492-9EE8-EC0AEFEFC6E7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F2FA-3015-46D2-A9E6-751F39E5F8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85F-2776-4492-9EE8-EC0AEFEFC6E7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F2FA-3015-46D2-A9E6-751F39E5F8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85F-2776-4492-9EE8-EC0AEFEFC6E7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F2FA-3015-46D2-A9E6-751F39E5F8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85F-2776-4492-9EE8-EC0AEFEFC6E7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1DF2FA-3015-46D2-A9E6-751F39E5F83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85F-2776-4492-9EE8-EC0AEFEFC6E7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F2FA-3015-46D2-A9E6-751F39E5F8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85F-2776-4492-9EE8-EC0AEFEFC6E7}" type="datetimeFigureOut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F2FA-3015-46D2-A9E6-751F39E5F8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561DF2FA-3015-46D2-A9E6-751F39E5F83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BBAEC85F-2776-4492-9EE8-EC0AEFEFC6E7}" type="datetimeFigureOut">
              <a:rPr lang="en-US" smtClean="0"/>
              <a:t>11-Nov-25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1"/>
            <a:ext cx="8229600" cy="914400"/>
          </a:xfrm>
        </p:spPr>
        <p:txBody>
          <a:bodyPr>
            <a:normAutofit/>
          </a:bodyPr>
          <a:lstStyle/>
          <a:p>
            <a:r>
              <a:rPr lang="en-US" sz="2800" b="1" dirty="0"/>
              <a:t>Smart </a:t>
            </a:r>
            <a:r>
              <a:rPr lang="en-US" sz="2800" b="1" dirty="0" smtClean="0"/>
              <a:t>Contracts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447800"/>
            <a:ext cx="7315200" cy="4114800"/>
          </a:xfrm>
        </p:spPr>
        <p:txBody>
          <a:bodyPr>
            <a:normAutofit/>
          </a:bodyPr>
          <a:lstStyle/>
          <a:p>
            <a:r>
              <a:rPr lang="en-US" dirty="0"/>
              <a:t> 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1. What is a Smart Contract? How do smart contracts differ from traditional paper-based contracts in terms of structure, execution, and trust?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A smart contract</a:t>
            </a:r>
            <a:r>
              <a:rPr lang="en-US" dirty="0">
                <a:solidFill>
                  <a:schemeClr val="tx1"/>
                </a:solidFill>
              </a:rPr>
              <a:t> is a self-executing digital contract stored on a </a:t>
            </a:r>
            <a:r>
              <a:rPr lang="en-US" dirty="0" err="1">
                <a:solidFill>
                  <a:schemeClr val="tx1"/>
                </a:solidFill>
              </a:rPr>
              <a:t>Blockchain</a:t>
            </a:r>
            <a:r>
              <a:rPr lang="en-US" dirty="0">
                <a:solidFill>
                  <a:schemeClr val="tx1"/>
                </a:solidFill>
              </a:rPr>
              <a:t> that automatically enforces the terms and conditions of an agreement when predetermined conditions are met. 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 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Traditional paper-based contracts: </a:t>
            </a:r>
            <a:r>
              <a:rPr lang="en-US" dirty="0">
                <a:solidFill>
                  <a:schemeClr val="tx1"/>
                </a:solidFill>
              </a:rPr>
              <a:t>Is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 system that requires manual processing which can be time consuming and rely on physical documents like receipts, invoices and contracts</a:t>
            </a:r>
            <a:r>
              <a:rPr lang="en-US" b="1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82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0"/>
            <a:ext cx="8229600" cy="1295399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Smart </a:t>
            </a:r>
            <a:r>
              <a:rPr lang="en-US" sz="2000" b="1" dirty="0" smtClean="0">
                <a:solidFill>
                  <a:schemeClr val="tx1"/>
                </a:solidFill>
              </a:rPr>
              <a:t>Contracts  and Traditional paper-based contract</a:t>
            </a: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600200"/>
            <a:ext cx="7315200" cy="4114800"/>
          </a:xfrm>
        </p:spPr>
        <p:txBody>
          <a:bodyPr>
            <a:normAutofit/>
          </a:bodyPr>
          <a:lstStyle/>
          <a:p>
            <a:r>
              <a:rPr lang="en-US" dirty="0"/>
              <a:t> </a:t>
            </a:r>
          </a:p>
          <a:p>
            <a:pPr algn="just"/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92" b="39699"/>
          <a:stretch/>
        </p:blipFill>
        <p:spPr bwMode="auto">
          <a:xfrm>
            <a:off x="685800" y="1600200"/>
            <a:ext cx="7696200" cy="487679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63043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1"/>
            <a:ext cx="8229600" cy="8382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Smart </a:t>
            </a:r>
            <a:r>
              <a:rPr lang="en-US" sz="2800" b="1" dirty="0" smtClean="0">
                <a:solidFill>
                  <a:schemeClr val="tx1"/>
                </a:solidFill>
              </a:rPr>
              <a:t>Contracts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295400"/>
            <a:ext cx="7620000" cy="50292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 </a:t>
            </a:r>
          </a:p>
          <a:p>
            <a:pPr algn="just"/>
            <a:r>
              <a:rPr lang="en-US" b="1" dirty="0" smtClean="0"/>
              <a:t> </a:t>
            </a:r>
            <a:r>
              <a:rPr lang="en-US" b="1" dirty="0" smtClean="0">
                <a:solidFill>
                  <a:schemeClr val="tx1"/>
                </a:solidFill>
              </a:rPr>
              <a:t>How </a:t>
            </a:r>
            <a:r>
              <a:rPr lang="en-US" b="1" dirty="0">
                <a:solidFill>
                  <a:schemeClr val="tx1"/>
                </a:solidFill>
              </a:rPr>
              <a:t>do smart contracts differ from traditional paper-based contracts in terms of structure, execution, and trust?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Structure:</a:t>
            </a:r>
            <a:r>
              <a:rPr lang="en-US" dirty="0">
                <a:solidFill>
                  <a:schemeClr val="tx1"/>
                </a:solidFill>
              </a:rPr>
              <a:t> traditional paper-based are written in natural language while Smart written in code, making them machine-readable and executable.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Execution:</a:t>
            </a:r>
            <a:r>
              <a:rPr lang="en-US" dirty="0">
                <a:solidFill>
                  <a:schemeClr val="tx1"/>
                </a:solidFill>
              </a:rPr>
              <a:t> traditional require manual interpretation Smart contracts Automated execution when conditions are met, eliminating the need for intermediaries.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Trust:</a:t>
            </a:r>
            <a:r>
              <a:rPr lang="en-US" dirty="0">
                <a:solidFill>
                  <a:schemeClr val="tx1"/>
                </a:solidFill>
              </a:rPr>
              <a:t> smart contracts are Built-in trust mechanism through </a:t>
            </a:r>
            <a:r>
              <a:rPr lang="en-US" dirty="0" err="1">
                <a:solidFill>
                  <a:schemeClr val="tx1"/>
                </a:solidFill>
              </a:rPr>
              <a:t>Blockchain</a:t>
            </a:r>
            <a:r>
              <a:rPr lang="en-US" dirty="0">
                <a:solidFill>
                  <a:schemeClr val="tx1"/>
                </a:solidFill>
              </a:rPr>
              <a:t> technology, ensuring transparency, immutability, and tamper-proofing  while paper-based rely on repudiation and credibility of parties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04661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7200"/>
            <a:ext cx="7924800" cy="1295399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 err="1" smtClean="0">
                <a:solidFill>
                  <a:schemeClr val="tx1"/>
                </a:solidFill>
              </a:rPr>
              <a:t>Qn</a:t>
            </a:r>
            <a:r>
              <a:rPr lang="en-US" sz="2200" b="1" dirty="0" smtClean="0">
                <a:solidFill>
                  <a:schemeClr val="tx1"/>
                </a:solidFill>
              </a:rPr>
              <a:t> 2</a:t>
            </a:r>
            <a:r>
              <a:rPr lang="en-US" sz="2200" dirty="0">
                <a:solidFill>
                  <a:schemeClr val="tx1"/>
                </a:solidFill>
              </a:rPr>
              <a:t>. </a:t>
            </a:r>
            <a:r>
              <a:rPr lang="en-US" sz="2200" b="1" dirty="0">
                <a:solidFill>
                  <a:schemeClr val="tx1"/>
                </a:solidFill>
              </a:rPr>
              <a:t>How Does </a:t>
            </a:r>
            <a:r>
              <a:rPr lang="en-US" sz="2200" b="1" dirty="0" err="1">
                <a:solidFill>
                  <a:schemeClr val="tx1"/>
                </a:solidFill>
              </a:rPr>
              <a:t>Blockchain</a:t>
            </a:r>
            <a:r>
              <a:rPr lang="en-US" sz="2200" b="1" dirty="0">
                <a:solidFill>
                  <a:schemeClr val="tx1"/>
                </a:solidFill>
              </a:rPr>
              <a:t> Enable Smart Contracts</a:t>
            </a:r>
            <a:r>
              <a:rPr lang="en-US" sz="2200" dirty="0" smtClean="0">
                <a:solidFill>
                  <a:schemeClr val="tx1"/>
                </a:solidFill>
              </a:rPr>
              <a:t>?</a:t>
            </a:r>
            <a:r>
              <a:rPr lang="en-US" sz="2200" dirty="0">
                <a:solidFill>
                  <a:schemeClr val="tx1"/>
                </a:solidFill>
              </a:rPr>
              <a:t/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1524000"/>
            <a:ext cx="7620000" cy="5029200"/>
          </a:xfrm>
        </p:spPr>
        <p:txBody>
          <a:bodyPr>
            <a:normAutofit/>
          </a:bodyPr>
          <a:lstStyle/>
          <a:p>
            <a:pPr algn="just"/>
            <a:r>
              <a:rPr lang="en-US" dirty="0" err="1" smtClean="0">
                <a:solidFill>
                  <a:schemeClr val="tx1"/>
                </a:solidFill>
              </a:rPr>
              <a:t>Blockchain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technology, such as </a:t>
            </a:r>
            <a:r>
              <a:rPr lang="en-US" dirty="0" err="1">
                <a:solidFill>
                  <a:schemeClr val="tx1"/>
                </a:solidFill>
              </a:rPr>
              <a:t>Ethereum</a:t>
            </a:r>
            <a:r>
              <a:rPr lang="en-US" dirty="0">
                <a:solidFill>
                  <a:schemeClr val="tx1"/>
                </a:solidFill>
              </a:rPr>
              <a:t>, provides a decentralized, secure, and transparent foundation for running smart contracts.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Key features include :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Decentralized network:</a:t>
            </a:r>
            <a:r>
              <a:rPr lang="en-US" dirty="0">
                <a:solidFill>
                  <a:schemeClr val="tx1"/>
                </a:solidFill>
              </a:rPr>
              <a:t> Ensures that smart contracts are executed on a network of nodes, rather than a single central authority.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Immutable ledger:</a:t>
            </a:r>
            <a:r>
              <a:rPr lang="en-US" dirty="0">
                <a:solidFill>
                  <a:schemeClr val="tx1"/>
                </a:solidFill>
              </a:rPr>
              <a:t> Records all transactions and smart contract executions, providing a permanent and tamper-proof record.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Smart contract execution: </a:t>
            </a:r>
            <a:r>
              <a:rPr lang="en-US" dirty="0">
                <a:solidFill>
                  <a:schemeClr val="tx1"/>
                </a:solidFill>
              </a:rPr>
              <a:t>Allows for the creation and execution of complex logic and rules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494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990601"/>
            <a:ext cx="8229600" cy="53340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 err="1" smtClean="0">
                <a:solidFill>
                  <a:schemeClr val="tx1"/>
                </a:solidFill>
              </a:rPr>
              <a:t>Qn</a:t>
            </a:r>
            <a:r>
              <a:rPr lang="en-US" sz="2000" b="1" dirty="0" smtClean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3. How Do Smart Contracts Work Technically</a:t>
            </a:r>
            <a:r>
              <a:rPr lang="en-US" sz="2000" b="1" dirty="0" smtClean="0">
                <a:solidFill>
                  <a:schemeClr val="tx1"/>
                </a:solidFill>
              </a:rPr>
              <a:t>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981200"/>
            <a:ext cx="7620000" cy="30480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Smart contracts </a:t>
            </a:r>
            <a:r>
              <a:rPr lang="en-US" dirty="0" smtClean="0">
                <a:solidFill>
                  <a:schemeClr val="tx1"/>
                </a:solidFill>
              </a:rPr>
              <a:t>technically use </a:t>
            </a:r>
            <a:r>
              <a:rPr lang="en-US" dirty="0">
                <a:solidFill>
                  <a:schemeClr val="tx1"/>
                </a:solidFill>
              </a:rPr>
              <a:t>the "if/when...then..." principle to define rules and actions. When conditions are met, the smart contract executes the corresponding action. For </a:t>
            </a:r>
            <a:r>
              <a:rPr lang="en-US" dirty="0" smtClean="0">
                <a:solidFill>
                  <a:schemeClr val="tx1"/>
                </a:solidFill>
              </a:rPr>
              <a:t>example: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IF</a:t>
            </a:r>
            <a:r>
              <a:rPr lang="en-US" dirty="0">
                <a:solidFill>
                  <a:schemeClr val="tx1"/>
                </a:solidFill>
              </a:rPr>
              <a:t> a payment is made, </a:t>
            </a:r>
            <a:r>
              <a:rPr lang="en-US" b="1" dirty="0">
                <a:solidFill>
                  <a:schemeClr val="tx1"/>
                </a:solidFill>
              </a:rPr>
              <a:t>THEN</a:t>
            </a:r>
            <a:r>
              <a:rPr lang="en-US" dirty="0">
                <a:solidFill>
                  <a:schemeClr val="tx1"/>
                </a:solidFill>
              </a:rPr>
              <a:t> transfer ownership of an asset.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The </a:t>
            </a:r>
            <a:r>
              <a:rPr lang="en-US" dirty="0" err="1">
                <a:solidFill>
                  <a:schemeClr val="tx1"/>
                </a:solidFill>
              </a:rPr>
              <a:t>Blockchain</a:t>
            </a:r>
            <a:r>
              <a:rPr lang="en-US" dirty="0">
                <a:solidFill>
                  <a:schemeClr val="tx1"/>
                </a:solidFill>
              </a:rPr>
              <a:t> records all transactions and smart contract executions, ensuring transparency and immutability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8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0"/>
            <a:ext cx="8229600" cy="1295399"/>
          </a:xfrm>
        </p:spPr>
        <p:txBody>
          <a:bodyPr>
            <a:noAutofit/>
          </a:bodyPr>
          <a:lstStyle/>
          <a:p>
            <a:pPr algn="l"/>
            <a:r>
              <a:rPr lang="en-US" sz="2000" b="1" dirty="0" err="1" smtClean="0">
                <a:solidFill>
                  <a:schemeClr val="tx1"/>
                </a:solidFill>
              </a:rPr>
              <a:t>Qn</a:t>
            </a:r>
            <a:r>
              <a:rPr lang="en-US" sz="2000" b="1" dirty="0" smtClean="0">
                <a:solidFill>
                  <a:schemeClr val="tx1"/>
                </a:solidFill>
              </a:rPr>
              <a:t> 4</a:t>
            </a:r>
            <a:r>
              <a:rPr lang="en-US" sz="2000" b="1" dirty="0">
                <a:solidFill>
                  <a:schemeClr val="tx1"/>
                </a:solidFill>
              </a:rPr>
              <a:t>. How Do Smart Contracts Eliminate the Need for Intermediaries?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828800"/>
            <a:ext cx="7620000" cy="46482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Smart contracts automate the execution of agreements, eliminating the need for intermediaries like lawyers, brokers, or banks. </a:t>
            </a:r>
            <a:r>
              <a:rPr lang="en-US" dirty="0" smtClean="0">
                <a:solidFill>
                  <a:schemeClr val="tx1"/>
                </a:solidFill>
              </a:rPr>
              <a:t>This </a:t>
            </a:r>
            <a:r>
              <a:rPr lang="en-US" dirty="0">
                <a:solidFill>
                  <a:schemeClr val="tx1"/>
                </a:solidFill>
              </a:rPr>
              <a:t>builds trust between parties by: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Automating execution:</a:t>
            </a:r>
            <a:r>
              <a:rPr lang="en-US" dirty="0">
                <a:solidFill>
                  <a:schemeClr val="tx1"/>
                </a:solidFill>
              </a:rPr>
              <a:t> Ensuring that agreements are executed as programmed.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Providing transparency:</a:t>
            </a:r>
            <a:r>
              <a:rPr lang="en-US" dirty="0">
                <a:solidFill>
                  <a:schemeClr val="tx1"/>
                </a:solidFill>
              </a:rPr>
              <a:t> Allowing parties to track the execution of agreements.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Ensuring immutability:</a:t>
            </a:r>
            <a:r>
              <a:rPr lang="en-US" dirty="0">
                <a:solidFill>
                  <a:schemeClr val="tx1"/>
                </a:solidFill>
              </a:rPr>
              <a:t> Preventing changes to the agreement once it's been deployed.</a:t>
            </a:r>
          </a:p>
        </p:txBody>
      </p:sp>
    </p:spTree>
    <p:extLst>
      <p:ext uri="{BB962C8B-B14F-4D97-AF65-F5344CB8AC3E}">
        <p14:creationId xmlns:p14="http://schemas.microsoft.com/office/powerpoint/2010/main" val="2817511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1"/>
            <a:ext cx="8229600" cy="8382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 err="1" smtClean="0">
                <a:solidFill>
                  <a:schemeClr val="tx1"/>
                </a:solidFill>
              </a:rPr>
              <a:t>Qn</a:t>
            </a:r>
            <a:r>
              <a:rPr lang="en-US" sz="2000" b="1" dirty="0" smtClean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5. How Are Smart Contracts Created and Deployed?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828800"/>
            <a:ext cx="7620000" cy="46482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Smart contracts are created using programming languages like </a:t>
            </a:r>
            <a:r>
              <a:rPr lang="en-US" dirty="0" err="1">
                <a:solidFill>
                  <a:schemeClr val="tx1"/>
                </a:solidFill>
              </a:rPr>
              <a:t>V</a:t>
            </a:r>
            <a:r>
              <a:rPr lang="en-US" dirty="0" err="1" smtClean="0">
                <a:solidFill>
                  <a:schemeClr val="tx1"/>
                </a:solidFill>
              </a:rPr>
              <a:t>yper</a:t>
            </a:r>
            <a:r>
              <a:rPr lang="en-US" dirty="0" smtClean="0">
                <a:solidFill>
                  <a:schemeClr val="tx1"/>
                </a:solidFill>
              </a:rPr>
              <a:t>, Rust and Solidity </a:t>
            </a:r>
            <a:r>
              <a:rPr lang="en-US" dirty="0">
                <a:solidFill>
                  <a:schemeClr val="tx1"/>
                </a:solidFill>
              </a:rPr>
              <a:t>(for </a:t>
            </a:r>
            <a:r>
              <a:rPr lang="en-US" dirty="0" err="1">
                <a:solidFill>
                  <a:schemeClr val="tx1"/>
                </a:solidFill>
              </a:rPr>
              <a:t>Ethereum</a:t>
            </a:r>
            <a:r>
              <a:rPr lang="en-US" dirty="0">
                <a:solidFill>
                  <a:schemeClr val="tx1"/>
                </a:solidFill>
              </a:rPr>
              <a:t>) and deployed on a </a:t>
            </a:r>
            <a:r>
              <a:rPr lang="en-US" dirty="0" err="1">
                <a:solidFill>
                  <a:schemeClr val="tx1"/>
                </a:solidFill>
              </a:rPr>
              <a:t>blockchain</a:t>
            </a:r>
            <a:r>
              <a:rPr lang="en-US" dirty="0">
                <a:solidFill>
                  <a:schemeClr val="tx1"/>
                </a:solidFill>
              </a:rPr>
              <a:t> network. The process involves :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Writing the contract:</a:t>
            </a:r>
            <a:r>
              <a:rPr lang="en-US" dirty="0">
                <a:solidFill>
                  <a:schemeClr val="tx1"/>
                </a:solidFill>
              </a:rPr>
              <a:t> Coding the smart contract using a programming language.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Compiling the contract:</a:t>
            </a:r>
            <a:r>
              <a:rPr lang="en-US" dirty="0">
                <a:solidFill>
                  <a:schemeClr val="tx1"/>
                </a:solidFill>
              </a:rPr>
              <a:t> Converting the code into machine-readable format.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Deploying the contract:</a:t>
            </a:r>
            <a:r>
              <a:rPr lang="en-US" dirty="0">
                <a:solidFill>
                  <a:schemeClr val="tx1"/>
                </a:solidFill>
              </a:rPr>
              <a:t> Uploading the compiled contract to a </a:t>
            </a:r>
            <a:r>
              <a:rPr lang="en-US" dirty="0" err="1">
                <a:solidFill>
                  <a:schemeClr val="tx1"/>
                </a:solidFill>
              </a:rPr>
              <a:t>blockchain</a:t>
            </a:r>
            <a:r>
              <a:rPr lang="en-US" dirty="0">
                <a:solidFill>
                  <a:schemeClr val="tx1"/>
                </a:solidFill>
              </a:rPr>
              <a:t> network.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396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0"/>
            <a:ext cx="8229600" cy="1295399"/>
          </a:xfrm>
        </p:spPr>
        <p:txBody>
          <a:bodyPr>
            <a:noAutofit/>
          </a:bodyPr>
          <a:lstStyle/>
          <a:p>
            <a:r>
              <a:rPr lang="en-US" sz="2000" b="1" dirty="0" err="1" smtClean="0">
                <a:solidFill>
                  <a:schemeClr val="tx1"/>
                </a:solidFill>
              </a:rPr>
              <a:t>Qn</a:t>
            </a:r>
            <a:r>
              <a:rPr lang="en-US" sz="2000" b="1" dirty="0" smtClean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6. What Are the Key Advantages and Limitations/Risks of Smart Contracts?</a:t>
            </a: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828800"/>
            <a:ext cx="7620000" cy="464820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</a:rPr>
              <a:t>Advantages</a:t>
            </a:r>
            <a:r>
              <a:rPr lang="en-US" b="1" dirty="0" smtClean="0">
                <a:solidFill>
                  <a:schemeClr val="tx1"/>
                </a:solidFill>
              </a:rPr>
              <a:t>: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Speed: Fast execution of agreements.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Efficiency: Automation eliminates intermediaries.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Transparency: All transactions are recorded on a public ledger.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Security: Immutable and tamper-proof.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22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0"/>
            <a:ext cx="8229600" cy="1295399"/>
          </a:xfrm>
        </p:spPr>
        <p:txBody>
          <a:bodyPr>
            <a:noAutofit/>
          </a:bodyPr>
          <a:lstStyle/>
          <a:p>
            <a:r>
              <a:rPr lang="en-US" sz="2000" b="1" dirty="0" err="1" smtClean="0">
                <a:solidFill>
                  <a:schemeClr val="tx1"/>
                </a:solidFill>
              </a:rPr>
              <a:t>Qn</a:t>
            </a:r>
            <a:r>
              <a:rPr lang="en-US" sz="2000" b="1" dirty="0" smtClean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6. What Are the Key Advantages and Limitations/Risks of Smart Contracts?</a:t>
            </a: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828800"/>
            <a:ext cx="7620000" cy="464820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</a:rPr>
              <a:t>Limitations/Risks: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Complexity: </a:t>
            </a:r>
            <a:r>
              <a:rPr lang="en-US" dirty="0">
                <a:solidFill>
                  <a:schemeClr val="tx1"/>
                </a:solidFill>
              </a:rPr>
              <a:t>Smart contracts can be complex and difficult to understand.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Regulatory uncertainty: </a:t>
            </a:r>
            <a:r>
              <a:rPr lang="en-US" dirty="0">
                <a:solidFill>
                  <a:schemeClr val="tx1"/>
                </a:solidFill>
              </a:rPr>
              <a:t>Lack of clear regulations and laws governing smart contracts.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Security risks: </a:t>
            </a:r>
            <a:r>
              <a:rPr lang="en-US" dirty="0">
                <a:solidFill>
                  <a:schemeClr val="tx1"/>
                </a:solidFill>
              </a:rPr>
              <a:t>Vulnerabilities in smart contract code can lead to security breaches.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162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1"/>
            <a:ext cx="8229600" cy="9144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 err="1" smtClean="0">
                <a:solidFill>
                  <a:schemeClr val="tx1"/>
                </a:solidFill>
              </a:rPr>
              <a:t>Qn</a:t>
            </a:r>
            <a:r>
              <a:rPr lang="en-US" sz="2000" b="1" dirty="0" smtClean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7. In Which Real-World Sectors are Smart Contracts Used?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828800"/>
            <a:ext cx="7620000" cy="46482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Smart contracts are used in various sectors, including: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Finance</a:t>
            </a:r>
            <a:r>
              <a:rPr lang="en-US" dirty="0">
                <a:solidFill>
                  <a:schemeClr val="tx1"/>
                </a:solidFill>
              </a:rPr>
              <a:t>: Automating financial transactions and agreements.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Supply Chain</a:t>
            </a:r>
            <a:r>
              <a:rPr lang="en-US" dirty="0">
                <a:solidFill>
                  <a:schemeClr val="tx1"/>
                </a:solidFill>
              </a:rPr>
              <a:t>: Tracking and verifying the movement of goods.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-</a:t>
            </a:r>
            <a:r>
              <a:rPr lang="en-US" b="1" dirty="0" smtClean="0">
                <a:solidFill>
                  <a:schemeClr val="tx1"/>
                </a:solidFill>
              </a:rPr>
              <a:t>Healthcare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Securely managing patient data and medical records.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 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Examples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The Home Depot:</a:t>
            </a:r>
            <a:r>
              <a:rPr lang="en-US" dirty="0">
                <a:solidFill>
                  <a:schemeClr val="tx1"/>
                </a:solidFill>
              </a:rPr>
              <a:t> Using smart contracts to automate vendor payments and dispute resolution.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 err="1">
                <a:solidFill>
                  <a:schemeClr val="tx1"/>
                </a:solidFill>
              </a:rPr>
              <a:t>Arbol</a:t>
            </a:r>
            <a:r>
              <a:rPr lang="en-US" b="1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Using smart contracts to create parametric insurance based on weather data .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80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1"/>
            <a:ext cx="8229600" cy="6858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 err="1" smtClean="0">
                <a:solidFill>
                  <a:schemeClr val="tx1"/>
                </a:solidFill>
              </a:rPr>
              <a:t>Qn</a:t>
            </a:r>
            <a:r>
              <a:rPr lang="en-US" sz="2000" b="1" dirty="0" smtClean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8. Which Cryptocurrencies and Platforms Support Smart Contracts?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1828800"/>
            <a:ext cx="7620000" cy="464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Some popular platforms that support smart contracts include: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 err="1">
                <a:solidFill>
                  <a:schemeClr val="tx1"/>
                </a:solidFill>
              </a:rPr>
              <a:t>Ethereum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A decentralized platform for building and executing smart contracts.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 err="1">
                <a:solidFill>
                  <a:schemeClr val="tx1"/>
                </a:solidFill>
              </a:rPr>
              <a:t>Cardano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A </a:t>
            </a:r>
            <a:r>
              <a:rPr lang="en-US" dirty="0" err="1">
                <a:solidFill>
                  <a:schemeClr val="tx1"/>
                </a:solidFill>
              </a:rPr>
              <a:t>blockchain</a:t>
            </a:r>
            <a:r>
              <a:rPr lang="en-US" dirty="0">
                <a:solidFill>
                  <a:schemeClr val="tx1"/>
                </a:solidFill>
              </a:rPr>
              <a:t> platform for building and executing smart contracts.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>
                <a:solidFill>
                  <a:schemeClr val="tx1"/>
                </a:solidFill>
              </a:rPr>
              <a:t>Solana:</a:t>
            </a:r>
            <a:r>
              <a:rPr lang="en-US" dirty="0">
                <a:solidFill>
                  <a:schemeClr val="tx1"/>
                </a:solidFill>
              </a:rPr>
              <a:t> A fast and scalable </a:t>
            </a:r>
            <a:r>
              <a:rPr lang="en-US" dirty="0" err="1">
                <a:solidFill>
                  <a:schemeClr val="tx1"/>
                </a:solidFill>
              </a:rPr>
              <a:t>blockchain</a:t>
            </a:r>
            <a:r>
              <a:rPr lang="en-US" dirty="0">
                <a:solidFill>
                  <a:schemeClr val="tx1"/>
                </a:solidFill>
              </a:rPr>
              <a:t> platform for building and executing smart contracts.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en-US" b="1" dirty="0" err="1">
                <a:solidFill>
                  <a:schemeClr val="tx1"/>
                </a:solidFill>
              </a:rPr>
              <a:t>Binance</a:t>
            </a:r>
            <a:r>
              <a:rPr lang="en-US" b="1" dirty="0">
                <a:solidFill>
                  <a:schemeClr val="tx1"/>
                </a:solidFill>
              </a:rPr>
              <a:t> Smart Chain:</a:t>
            </a:r>
            <a:r>
              <a:rPr lang="en-US" dirty="0">
                <a:solidFill>
                  <a:schemeClr val="tx1"/>
                </a:solidFill>
              </a:rPr>
              <a:t> A </a:t>
            </a:r>
            <a:r>
              <a:rPr lang="en-US" dirty="0" err="1">
                <a:solidFill>
                  <a:schemeClr val="tx1"/>
                </a:solidFill>
              </a:rPr>
              <a:t>blockchain</a:t>
            </a:r>
            <a:r>
              <a:rPr lang="en-US" dirty="0">
                <a:solidFill>
                  <a:schemeClr val="tx1"/>
                </a:solidFill>
              </a:rPr>
              <a:t> platform that supports the creation and execution of smart contracts.</a:t>
            </a:r>
          </a:p>
        </p:txBody>
      </p:sp>
    </p:spTree>
    <p:extLst>
      <p:ext uri="{BB962C8B-B14F-4D97-AF65-F5344CB8AC3E}">
        <p14:creationId xmlns:p14="http://schemas.microsoft.com/office/powerpoint/2010/main" val="3599219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66713"/>
            <a:ext cx="4572000" cy="612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9731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75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457201"/>
            <a:ext cx="8229600" cy="762000"/>
          </a:xfrm>
        </p:spPr>
        <p:txBody>
          <a:bodyPr>
            <a:normAutofit/>
          </a:bodyPr>
          <a:lstStyle/>
          <a:p>
            <a:pPr algn="l"/>
            <a:r>
              <a:rPr lang="en-US" sz="2400" b="1" i="1" dirty="0"/>
              <a:t>References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447800"/>
            <a:ext cx="7620000" cy="4648200"/>
          </a:xfrm>
        </p:spPr>
        <p:txBody>
          <a:bodyPr>
            <a:normAutofit/>
          </a:bodyPr>
          <a:lstStyle/>
          <a:p>
            <a:pPr lvl="0" algn="just"/>
            <a:r>
              <a:rPr lang="en-US" dirty="0" err="1">
                <a:solidFill>
                  <a:schemeClr val="tx1"/>
                </a:solidFill>
              </a:rPr>
              <a:t>Buterin</a:t>
            </a:r>
            <a:r>
              <a:rPr lang="en-US" dirty="0">
                <a:solidFill>
                  <a:schemeClr val="tx1"/>
                </a:solidFill>
              </a:rPr>
              <a:t>, V. (2014). </a:t>
            </a:r>
            <a:r>
              <a:rPr lang="en-US" i="1" dirty="0" err="1">
                <a:solidFill>
                  <a:schemeClr val="tx1"/>
                </a:solidFill>
              </a:rPr>
              <a:t>Ethereum</a:t>
            </a:r>
            <a:r>
              <a:rPr lang="en-US" i="1" dirty="0">
                <a:solidFill>
                  <a:schemeClr val="tx1"/>
                </a:solidFill>
              </a:rPr>
              <a:t>: A next-generation smart contract and decentralized application platform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0" algn="just"/>
            <a:r>
              <a:rPr lang="en-US" dirty="0" err="1">
                <a:solidFill>
                  <a:schemeClr val="tx1"/>
                </a:solidFill>
              </a:rPr>
              <a:t>Szabo</a:t>
            </a:r>
            <a:r>
              <a:rPr lang="en-US" dirty="0">
                <a:solidFill>
                  <a:schemeClr val="tx1"/>
                </a:solidFill>
              </a:rPr>
              <a:t>, N. (1994). </a:t>
            </a:r>
            <a:r>
              <a:rPr lang="en-US" i="1" dirty="0">
                <a:solidFill>
                  <a:schemeClr val="tx1"/>
                </a:solidFill>
              </a:rPr>
              <a:t>Smart contracts: Building blocks of a new society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0" algn="just"/>
            <a:r>
              <a:rPr lang="en-US" dirty="0">
                <a:solidFill>
                  <a:schemeClr val="tx1"/>
                </a:solidFill>
              </a:rPr>
              <a:t>Antonopoulos, A. M., &amp; Wood, G. (2018). </a:t>
            </a:r>
            <a:r>
              <a:rPr lang="en-US" i="1" dirty="0">
                <a:solidFill>
                  <a:schemeClr val="tx1"/>
                </a:solidFill>
              </a:rPr>
              <a:t>Mastering </a:t>
            </a:r>
            <a:r>
              <a:rPr lang="en-US" i="1" dirty="0" err="1">
                <a:solidFill>
                  <a:schemeClr val="tx1"/>
                </a:solidFill>
              </a:rPr>
              <a:t>Ethereum</a:t>
            </a:r>
            <a:r>
              <a:rPr lang="en-US" i="1" dirty="0">
                <a:solidFill>
                  <a:schemeClr val="tx1"/>
                </a:solidFill>
              </a:rPr>
              <a:t>: Building smart contracts and </a:t>
            </a:r>
            <a:r>
              <a:rPr lang="en-US" i="1" dirty="0" err="1">
                <a:solidFill>
                  <a:schemeClr val="tx1"/>
                </a:solidFill>
              </a:rPr>
              <a:t>DApps</a:t>
            </a:r>
            <a:r>
              <a:rPr lang="en-US" dirty="0">
                <a:solidFill>
                  <a:schemeClr val="tx1"/>
                </a:solidFill>
              </a:rPr>
              <a:t>. O'Reilly Media.</a:t>
            </a:r>
          </a:p>
          <a:p>
            <a:pPr lvl="0" algn="just"/>
            <a:r>
              <a:rPr lang="en-US" dirty="0">
                <a:solidFill>
                  <a:schemeClr val="tx1"/>
                </a:solidFill>
              </a:rPr>
              <a:t>The Home Depot. (</a:t>
            </a:r>
            <a:r>
              <a:rPr lang="en-US" dirty="0" err="1">
                <a:solidFill>
                  <a:schemeClr val="tx1"/>
                </a:solidFill>
              </a:rPr>
              <a:t>n.d.</a:t>
            </a:r>
            <a:r>
              <a:rPr lang="en-US" dirty="0">
                <a:solidFill>
                  <a:schemeClr val="tx1"/>
                </a:solidFill>
              </a:rPr>
              <a:t>). </a:t>
            </a:r>
            <a:r>
              <a:rPr lang="en-US" i="1" dirty="0">
                <a:solidFill>
                  <a:schemeClr val="tx1"/>
                </a:solidFill>
              </a:rPr>
              <a:t>Case study: The Home Depot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0" algn="just"/>
            <a:r>
              <a:rPr lang="en-US" dirty="0" err="1">
                <a:solidFill>
                  <a:schemeClr val="tx1"/>
                </a:solidFill>
              </a:rPr>
              <a:t>Arbol</a:t>
            </a:r>
            <a:r>
              <a:rPr lang="en-US" dirty="0">
                <a:solidFill>
                  <a:schemeClr val="tx1"/>
                </a:solidFill>
              </a:rPr>
              <a:t>. (</a:t>
            </a:r>
            <a:r>
              <a:rPr lang="en-US" dirty="0" err="1">
                <a:solidFill>
                  <a:schemeClr val="tx1"/>
                </a:solidFill>
              </a:rPr>
              <a:t>n.d.</a:t>
            </a:r>
            <a:r>
              <a:rPr lang="en-US" dirty="0">
                <a:solidFill>
                  <a:schemeClr val="tx1"/>
                </a:solidFill>
              </a:rPr>
              <a:t>). </a:t>
            </a:r>
            <a:r>
              <a:rPr lang="en-US" i="1" dirty="0">
                <a:solidFill>
                  <a:schemeClr val="tx1"/>
                </a:solidFill>
              </a:rPr>
              <a:t>Case study: </a:t>
            </a:r>
            <a:r>
              <a:rPr lang="en-US" i="1" dirty="0" err="1">
                <a:solidFill>
                  <a:schemeClr val="tx1"/>
                </a:solidFill>
              </a:rPr>
              <a:t>Arbol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0" algn="just"/>
            <a:r>
              <a:rPr lang="en-US" dirty="0" err="1">
                <a:solidFill>
                  <a:schemeClr val="tx1"/>
                </a:solidFill>
              </a:rPr>
              <a:t>Binance</a:t>
            </a:r>
            <a:r>
              <a:rPr lang="en-US" dirty="0">
                <a:solidFill>
                  <a:schemeClr val="tx1"/>
                </a:solidFill>
              </a:rPr>
              <a:t>. (</a:t>
            </a:r>
            <a:r>
              <a:rPr lang="en-US" dirty="0" err="1">
                <a:solidFill>
                  <a:schemeClr val="tx1"/>
                </a:solidFill>
              </a:rPr>
              <a:t>n.d.</a:t>
            </a:r>
            <a:r>
              <a:rPr lang="en-US" dirty="0">
                <a:solidFill>
                  <a:schemeClr val="tx1"/>
                </a:solidFill>
              </a:rPr>
              <a:t>). </a:t>
            </a:r>
            <a:r>
              <a:rPr lang="en-US" i="1" dirty="0" err="1">
                <a:solidFill>
                  <a:schemeClr val="tx1"/>
                </a:solidFill>
              </a:rPr>
              <a:t>Binance</a:t>
            </a:r>
            <a:r>
              <a:rPr lang="en-US" i="1" dirty="0">
                <a:solidFill>
                  <a:schemeClr val="tx1"/>
                </a:solidFill>
              </a:rPr>
              <a:t> Smart Chain documentation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0" algn="just"/>
            <a:r>
              <a:rPr lang="en-US" dirty="0" err="1">
                <a:solidFill>
                  <a:schemeClr val="tx1"/>
                </a:solidFill>
              </a:rPr>
              <a:t>Ethereum</a:t>
            </a:r>
            <a:r>
              <a:rPr lang="en-US" dirty="0">
                <a:solidFill>
                  <a:schemeClr val="tx1"/>
                </a:solidFill>
              </a:rPr>
              <a:t>. (</a:t>
            </a:r>
            <a:r>
              <a:rPr lang="en-US" dirty="0" err="1">
                <a:solidFill>
                  <a:schemeClr val="tx1"/>
                </a:solidFill>
              </a:rPr>
              <a:t>n.d.</a:t>
            </a:r>
            <a:r>
              <a:rPr lang="en-US" dirty="0">
                <a:solidFill>
                  <a:schemeClr val="tx1"/>
                </a:solidFill>
              </a:rPr>
              <a:t>). </a:t>
            </a:r>
            <a:r>
              <a:rPr lang="en-US" i="1" dirty="0" err="1">
                <a:solidFill>
                  <a:schemeClr val="tx1"/>
                </a:solidFill>
              </a:rPr>
              <a:t>Ethereum</a:t>
            </a:r>
            <a:r>
              <a:rPr lang="en-US" i="1" dirty="0">
                <a:solidFill>
                  <a:schemeClr val="tx1"/>
                </a:solidFill>
              </a:rPr>
              <a:t> documentation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1159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286</TotalTime>
  <Words>586</Words>
  <Application>Microsoft Office PowerPoint</Application>
  <PresentationFormat>On-screen Show (4:3)</PresentationFormat>
  <Paragraphs>69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Adjacency</vt:lpstr>
      <vt:lpstr>Smart Contracts</vt:lpstr>
      <vt:lpstr>Smart Contracts  and Traditional paper-based contract  </vt:lpstr>
      <vt:lpstr>Smart Contracts</vt:lpstr>
      <vt:lpstr>Qn 2. How Does Blockchain Enable Smart Contracts?  </vt:lpstr>
      <vt:lpstr>Qn 3. How Do Smart Contracts Work Technically?</vt:lpstr>
      <vt:lpstr>Qn 4. How Do Smart Contracts Eliminate the Need for Intermediaries?</vt:lpstr>
      <vt:lpstr>Qn 5. How Are Smart Contracts Created and Deployed?</vt:lpstr>
      <vt:lpstr>Qn 6. What Are the Key Advantages and Limitations/Risks of Smart Contracts? </vt:lpstr>
      <vt:lpstr>Qn 6. What Are the Key Advantages and Limitations/Risks of Smart Contracts? </vt:lpstr>
      <vt:lpstr>Qn 7. In Which Real-World Sectors are Smart Contracts Used?</vt:lpstr>
      <vt:lpstr>Qn 8. Which Cryptocurrencies and Platforms Support Smart Contracts?</vt:lpstr>
      <vt:lpstr>PowerPoint Presentation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Contracts</dc:title>
  <dc:creator>hp</dc:creator>
  <cp:lastModifiedBy>hp</cp:lastModifiedBy>
  <cp:revision>23</cp:revision>
  <dcterms:created xsi:type="dcterms:W3CDTF">2025-10-29T13:15:38Z</dcterms:created>
  <dcterms:modified xsi:type="dcterms:W3CDTF">2025-11-11T19:41:12Z</dcterms:modified>
</cp:coreProperties>
</file>